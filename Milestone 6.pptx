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992265-92F0-4F61-9A4A-17A4708FE933}"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0194F0D-2A1C-40CD-8BCF-E0FCB53078FC}" type="slidenum">
              <a:rPr lang="en-US" smtClean="0"/>
              <a:t>‹#›</a:t>
            </a:fld>
            <a:endParaRPr lang="en-US"/>
          </a:p>
        </p:txBody>
      </p:sp>
    </p:spTree>
    <p:extLst>
      <p:ext uri="{BB962C8B-B14F-4D97-AF65-F5344CB8AC3E}">
        <p14:creationId xmlns:p14="http://schemas.microsoft.com/office/powerpoint/2010/main" val="2074737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92265-92F0-4F61-9A4A-17A4708FE933}"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2079537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C992265-92F0-4F61-9A4A-17A4708FE933}" type="datetimeFigureOut">
              <a:rPr lang="en-US" smtClean="0"/>
              <a:t>12/16/2025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0194F0D-2A1C-40CD-8BCF-E0FCB53078FC}" type="slidenum">
              <a:rPr lang="en-US" smtClean="0"/>
              <a:t>‹#›</a:t>
            </a:fld>
            <a:endParaRPr lang="en-US"/>
          </a:p>
        </p:txBody>
      </p:sp>
    </p:spTree>
    <p:extLst>
      <p:ext uri="{BB962C8B-B14F-4D97-AF65-F5344CB8AC3E}">
        <p14:creationId xmlns:p14="http://schemas.microsoft.com/office/powerpoint/2010/main" val="1305663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992265-92F0-4F61-9A4A-17A4708FE933}"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3946036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992265-92F0-4F61-9A4A-17A4708FE933}"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3713143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992265-92F0-4F61-9A4A-17A4708FE933}"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1265839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992265-92F0-4F61-9A4A-17A4708FE933}"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763266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92265-92F0-4F61-9A4A-17A4708FE933}"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4291689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92265-92F0-4F61-9A4A-17A4708FE933}" type="datetimeFigureOut">
              <a:rPr lang="en-US" smtClean="0"/>
              <a:t>12/16/2025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315312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92265-92F0-4F61-9A4A-17A4708FE933}"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1847726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92265-92F0-4F61-9A4A-17A4708FE933}"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194F0D-2A1C-40CD-8BCF-E0FCB53078FC}" type="slidenum">
              <a:rPr lang="en-US" smtClean="0"/>
              <a:t>‹#›</a:t>
            </a:fld>
            <a:endParaRPr lang="en-US"/>
          </a:p>
        </p:txBody>
      </p:sp>
    </p:spTree>
    <p:extLst>
      <p:ext uri="{BB962C8B-B14F-4D97-AF65-F5344CB8AC3E}">
        <p14:creationId xmlns:p14="http://schemas.microsoft.com/office/powerpoint/2010/main" val="110484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C992265-92F0-4F61-9A4A-17A4708FE933}" type="datetimeFigureOut">
              <a:rPr lang="en-US" smtClean="0"/>
              <a:t>12/16/2025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0194F0D-2A1C-40CD-8BCF-E0FCB53078FC}" type="slidenum">
              <a:rPr lang="en-US" smtClean="0"/>
              <a:t>‹#›</a:t>
            </a:fld>
            <a:endParaRPr lang="en-US"/>
          </a:p>
        </p:txBody>
      </p:sp>
    </p:spTree>
    <p:extLst>
      <p:ext uri="{BB962C8B-B14F-4D97-AF65-F5344CB8AC3E}">
        <p14:creationId xmlns:p14="http://schemas.microsoft.com/office/powerpoint/2010/main" val="5146741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CACB-95E1-E9BB-D7A3-CB2648667734}"/>
              </a:ext>
            </a:extLst>
          </p:cNvPr>
          <p:cNvSpPr>
            <a:spLocks noGrp="1"/>
          </p:cNvSpPr>
          <p:nvPr>
            <p:ph type="ctrTitle"/>
          </p:nvPr>
        </p:nvSpPr>
        <p:spPr/>
        <p:txBody>
          <a:bodyPr>
            <a:noAutofit/>
          </a:bodyPr>
          <a:lstStyle/>
          <a:p>
            <a:r>
              <a:rPr lang="en-US" sz="8000" b="1"/>
              <a:t>Milestone 6 – API Testing with Postman</a:t>
            </a:r>
            <a:endParaRPr lang="en-US" sz="8000"/>
          </a:p>
        </p:txBody>
      </p:sp>
    </p:spTree>
    <p:extLst>
      <p:ext uri="{BB962C8B-B14F-4D97-AF65-F5344CB8AC3E}">
        <p14:creationId xmlns:p14="http://schemas.microsoft.com/office/powerpoint/2010/main" val="3695654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29B9D-C2DB-D4EC-274A-5FA12F9A66CD}"/>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A367C8D3-ADAD-0956-0502-69739A843693}"/>
              </a:ext>
            </a:extLst>
          </p:cNvPr>
          <p:cNvSpPr>
            <a:spLocks noGrp="1"/>
          </p:cNvSpPr>
          <p:nvPr>
            <p:ph idx="1"/>
          </p:nvPr>
        </p:nvSpPr>
        <p:spPr/>
        <p:txBody>
          <a:bodyPr/>
          <a:lstStyle/>
          <a:p>
            <a:pPr marL="0" indent="0">
              <a:buNone/>
            </a:pPr>
            <a:r>
              <a:rPr lang="en-US"/>
              <a:t>This milestone focuses on validating the correctness, reliability, and robustness of the Address Finder REST API using Postman. The purpose of this milestone is to demonstrate that the API behaves predictably under normal, edge-case, and invalid input scenarios.</a:t>
            </a:r>
          </a:p>
        </p:txBody>
      </p:sp>
    </p:spTree>
    <p:extLst>
      <p:ext uri="{BB962C8B-B14F-4D97-AF65-F5344CB8AC3E}">
        <p14:creationId xmlns:p14="http://schemas.microsoft.com/office/powerpoint/2010/main" val="646594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7913-57FA-B51A-27E8-0B58DA48A6F6}"/>
              </a:ext>
            </a:extLst>
          </p:cNvPr>
          <p:cNvSpPr>
            <a:spLocks noGrp="1"/>
          </p:cNvSpPr>
          <p:nvPr>
            <p:ph type="title"/>
          </p:nvPr>
        </p:nvSpPr>
        <p:spPr/>
        <p:txBody>
          <a:bodyPr/>
          <a:lstStyle/>
          <a:p>
            <a:r>
              <a:rPr lang="en-US"/>
              <a:t>6.1 Purpose of API Testing</a:t>
            </a:r>
          </a:p>
        </p:txBody>
      </p:sp>
      <p:sp>
        <p:nvSpPr>
          <p:cNvPr id="3" name="Content Placeholder 2">
            <a:extLst>
              <a:ext uri="{FF2B5EF4-FFF2-40B4-BE49-F238E27FC236}">
                <a16:creationId xmlns:a16="http://schemas.microsoft.com/office/drawing/2014/main" id="{B510D28D-F448-9A99-6D73-7D877403C55F}"/>
              </a:ext>
            </a:extLst>
          </p:cNvPr>
          <p:cNvSpPr>
            <a:spLocks noGrp="1"/>
          </p:cNvSpPr>
          <p:nvPr>
            <p:ph idx="1"/>
          </p:nvPr>
        </p:nvSpPr>
        <p:spPr/>
        <p:txBody>
          <a:bodyPr>
            <a:normAutofit/>
          </a:bodyPr>
          <a:lstStyle/>
          <a:p>
            <a:pPr marL="0" indent="0">
              <a:buNone/>
            </a:pPr>
            <a:r>
              <a:rPr lang="en-US"/>
              <a:t>API testing ensures that:</a:t>
            </a:r>
          </a:p>
          <a:p>
            <a:r>
              <a:rPr lang="en-US"/>
              <a:t>Endpoints return correct HTTP status codes</a:t>
            </a:r>
          </a:p>
          <a:p>
            <a:r>
              <a:rPr lang="en-US"/>
              <a:t>Responses follow the documented JSON structure</a:t>
            </a:r>
          </a:p>
          <a:p>
            <a:r>
              <a:rPr lang="en-US"/>
              <a:t>Authentication and authorization are enforced</a:t>
            </a:r>
          </a:p>
          <a:p>
            <a:r>
              <a:rPr lang="en-US"/>
              <a:t>The system handles invalid input gracefully</a:t>
            </a:r>
          </a:p>
          <a:p>
            <a:r>
              <a:rPr lang="en-US"/>
              <a:t>Performance remains stable under repeated requests</a:t>
            </a:r>
          </a:p>
          <a:p>
            <a:pPr marL="0" indent="0">
              <a:buNone/>
            </a:pPr>
            <a:endParaRPr lang="en-US"/>
          </a:p>
          <a:p>
            <a:pPr marL="0" indent="0">
              <a:buNone/>
            </a:pPr>
            <a:r>
              <a:rPr lang="en-US"/>
              <a:t>Postman is used as the primary testing tool due to its industry adoption and support for automated test scripts.</a:t>
            </a:r>
          </a:p>
        </p:txBody>
      </p:sp>
    </p:spTree>
    <p:extLst>
      <p:ext uri="{BB962C8B-B14F-4D97-AF65-F5344CB8AC3E}">
        <p14:creationId xmlns:p14="http://schemas.microsoft.com/office/powerpoint/2010/main" val="1027989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3D305-31B7-A637-02D5-257D2B5104E7}"/>
              </a:ext>
            </a:extLst>
          </p:cNvPr>
          <p:cNvSpPr>
            <a:spLocks noGrp="1"/>
          </p:cNvSpPr>
          <p:nvPr>
            <p:ph type="title"/>
          </p:nvPr>
        </p:nvSpPr>
        <p:spPr/>
        <p:txBody>
          <a:bodyPr/>
          <a:lstStyle/>
          <a:p>
            <a:r>
              <a:rPr lang="en-US"/>
              <a:t>6.2 Postman Environment Setup</a:t>
            </a:r>
          </a:p>
        </p:txBody>
      </p:sp>
      <p:sp>
        <p:nvSpPr>
          <p:cNvPr id="3" name="Content Placeholder 2">
            <a:extLst>
              <a:ext uri="{FF2B5EF4-FFF2-40B4-BE49-F238E27FC236}">
                <a16:creationId xmlns:a16="http://schemas.microsoft.com/office/drawing/2014/main" id="{C8135144-3154-E6D7-1F0B-6A4F867B4CF1}"/>
              </a:ext>
            </a:extLst>
          </p:cNvPr>
          <p:cNvSpPr>
            <a:spLocks noGrp="1"/>
          </p:cNvSpPr>
          <p:nvPr>
            <p:ph idx="1"/>
          </p:nvPr>
        </p:nvSpPr>
        <p:spPr/>
        <p:txBody>
          <a:bodyPr/>
          <a:lstStyle/>
          <a:p>
            <a:pPr marL="0" indent="0">
              <a:buNone/>
            </a:pPr>
            <a:r>
              <a:rPr lang="en-US"/>
              <a:t>A dedicated Postman environment named AddressFinder-Local is created with the following variables:</a:t>
            </a:r>
          </a:p>
          <a:p>
            <a:r>
              <a:rPr lang="en-US"/>
              <a:t>baseUrl = http://localhost:3000</a:t>
            </a:r>
          </a:p>
          <a:p>
            <a:r>
              <a:rPr lang="en-US"/>
              <a:t>token = &lt;authentication token&gt;</a:t>
            </a:r>
          </a:p>
          <a:p>
            <a:pPr marL="0" indent="0">
              <a:buNone/>
            </a:pPr>
            <a:endParaRPr lang="en-US"/>
          </a:p>
          <a:p>
            <a:pPr marL="0" indent="0">
              <a:buNone/>
            </a:pPr>
            <a:r>
              <a:rPr lang="en-US"/>
              <a:t>Using environment variables allows all requests to be reused and executed consistently without hardcoded values.</a:t>
            </a:r>
          </a:p>
        </p:txBody>
      </p:sp>
    </p:spTree>
    <p:extLst>
      <p:ext uri="{BB962C8B-B14F-4D97-AF65-F5344CB8AC3E}">
        <p14:creationId xmlns:p14="http://schemas.microsoft.com/office/powerpoint/2010/main" val="328055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B95B7-59F5-E25F-8760-4A6D62E5D979}"/>
              </a:ext>
            </a:extLst>
          </p:cNvPr>
          <p:cNvSpPr>
            <a:spLocks noGrp="1"/>
          </p:cNvSpPr>
          <p:nvPr>
            <p:ph type="title"/>
          </p:nvPr>
        </p:nvSpPr>
        <p:spPr/>
        <p:txBody>
          <a:bodyPr/>
          <a:lstStyle/>
          <a:p>
            <a:r>
              <a:rPr lang="en-US"/>
              <a:t>6.3 Postman Collection Structure</a:t>
            </a:r>
          </a:p>
        </p:txBody>
      </p:sp>
      <p:sp>
        <p:nvSpPr>
          <p:cNvPr id="3" name="Content Placeholder 2">
            <a:extLst>
              <a:ext uri="{FF2B5EF4-FFF2-40B4-BE49-F238E27FC236}">
                <a16:creationId xmlns:a16="http://schemas.microsoft.com/office/drawing/2014/main" id="{A4A6E87A-409D-7D2F-4D66-0294F730F8AB}"/>
              </a:ext>
            </a:extLst>
          </p:cNvPr>
          <p:cNvSpPr>
            <a:spLocks noGrp="1"/>
          </p:cNvSpPr>
          <p:nvPr>
            <p:ph idx="1"/>
          </p:nvPr>
        </p:nvSpPr>
        <p:spPr/>
        <p:txBody>
          <a:bodyPr>
            <a:normAutofit/>
          </a:bodyPr>
          <a:lstStyle/>
          <a:p>
            <a:pPr marL="0" indent="0">
              <a:buNone/>
            </a:pPr>
            <a:r>
              <a:rPr lang="en-US"/>
              <a:t>The Postman collection is organized into logical folders:</a:t>
            </a:r>
          </a:p>
          <a:p>
            <a:pPr marL="0" indent="0">
              <a:buNone/>
            </a:pPr>
            <a:endParaRPr lang="en-US"/>
          </a:p>
          <a:p>
            <a:r>
              <a:rPr lang="en-US"/>
              <a:t>Authentication</a:t>
            </a:r>
          </a:p>
          <a:p>
            <a:r>
              <a:rPr lang="en-US"/>
              <a:t>Search Tests</a:t>
            </a:r>
          </a:p>
          <a:p>
            <a:r>
              <a:rPr lang="en-US"/>
              <a:t>Admin CRUD Tests</a:t>
            </a:r>
          </a:p>
          <a:p>
            <a:r>
              <a:rPr lang="en-US"/>
              <a:t>Negative / Error Tests</a:t>
            </a:r>
          </a:p>
          <a:p>
            <a:r>
              <a:rPr lang="en-US"/>
              <a:t>Performance Tests</a:t>
            </a:r>
          </a:p>
          <a:p>
            <a:pPr marL="0" indent="0">
              <a:buNone/>
            </a:pPr>
            <a:endParaRPr lang="en-US"/>
          </a:p>
          <a:p>
            <a:pPr marL="0" indent="0">
              <a:buNone/>
            </a:pPr>
            <a:r>
              <a:rPr lang="en-US"/>
              <a:t>This structure ensures clarity and professional organization during demonstration.</a:t>
            </a:r>
          </a:p>
          <a:p>
            <a:endParaRPr lang="en-US"/>
          </a:p>
        </p:txBody>
      </p:sp>
    </p:spTree>
    <p:extLst>
      <p:ext uri="{BB962C8B-B14F-4D97-AF65-F5344CB8AC3E}">
        <p14:creationId xmlns:p14="http://schemas.microsoft.com/office/powerpoint/2010/main" val="1764413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00744-B500-3B84-5B9C-347EEB81A52E}"/>
              </a:ext>
            </a:extLst>
          </p:cNvPr>
          <p:cNvSpPr>
            <a:spLocks noGrp="1"/>
          </p:cNvSpPr>
          <p:nvPr>
            <p:ph type="title"/>
          </p:nvPr>
        </p:nvSpPr>
        <p:spPr/>
        <p:txBody>
          <a:bodyPr/>
          <a:lstStyle/>
          <a:p>
            <a:r>
              <a:rPr lang="en-US"/>
              <a:t>6.4 Tested Endpoints</a:t>
            </a:r>
          </a:p>
        </p:txBody>
      </p:sp>
      <p:sp>
        <p:nvSpPr>
          <p:cNvPr id="3" name="Content Placeholder 2">
            <a:extLst>
              <a:ext uri="{FF2B5EF4-FFF2-40B4-BE49-F238E27FC236}">
                <a16:creationId xmlns:a16="http://schemas.microsoft.com/office/drawing/2014/main" id="{FC8BD30B-6D49-2D5E-5A6E-4D0870826C9F}"/>
              </a:ext>
            </a:extLst>
          </p:cNvPr>
          <p:cNvSpPr>
            <a:spLocks noGrp="1"/>
          </p:cNvSpPr>
          <p:nvPr>
            <p:ph sz="half" idx="1"/>
          </p:nvPr>
        </p:nvSpPr>
        <p:spPr/>
        <p:txBody>
          <a:bodyPr/>
          <a:lstStyle/>
          <a:p>
            <a:pPr marL="0" indent="0">
              <a:buNone/>
            </a:pPr>
            <a:r>
              <a:rPr lang="en-US"/>
              <a:t>Authentication:</a:t>
            </a:r>
          </a:p>
          <a:p>
            <a:r>
              <a:rPr lang="en-US"/>
              <a:t>POST /login</a:t>
            </a:r>
          </a:p>
          <a:p>
            <a:pPr marL="0" indent="0">
              <a:buNone/>
            </a:pPr>
            <a:endParaRPr lang="en-US"/>
          </a:p>
          <a:p>
            <a:pPr marL="0" indent="0">
              <a:buNone/>
            </a:pPr>
            <a:r>
              <a:rPr lang="en-US"/>
              <a:t>Search:</a:t>
            </a:r>
          </a:p>
          <a:p>
            <a:r>
              <a:rPr lang="en-US"/>
              <a:t>GET /search?q=&lt;term&gt;</a:t>
            </a:r>
          </a:p>
          <a:p>
            <a:endParaRPr lang="en-US"/>
          </a:p>
        </p:txBody>
      </p:sp>
      <p:sp>
        <p:nvSpPr>
          <p:cNvPr id="4" name="Content Placeholder 3">
            <a:extLst>
              <a:ext uri="{FF2B5EF4-FFF2-40B4-BE49-F238E27FC236}">
                <a16:creationId xmlns:a16="http://schemas.microsoft.com/office/drawing/2014/main" id="{E762463F-C185-A3C5-D3B0-8E2534D367AD}"/>
              </a:ext>
            </a:extLst>
          </p:cNvPr>
          <p:cNvSpPr>
            <a:spLocks noGrp="1"/>
          </p:cNvSpPr>
          <p:nvPr>
            <p:ph sz="half" idx="2"/>
          </p:nvPr>
        </p:nvSpPr>
        <p:spPr/>
        <p:txBody>
          <a:bodyPr/>
          <a:lstStyle/>
          <a:p>
            <a:pPr marL="0" indent="0">
              <a:buNone/>
            </a:pPr>
            <a:r>
              <a:rPr lang="en-US"/>
              <a:t>Admin CRUD:</a:t>
            </a:r>
          </a:p>
          <a:p>
            <a:r>
              <a:rPr lang="en-US"/>
              <a:t>POST /addresses</a:t>
            </a:r>
          </a:p>
          <a:p>
            <a:r>
              <a:rPr lang="en-US"/>
              <a:t>GET /addresses/{id}</a:t>
            </a:r>
          </a:p>
          <a:p>
            <a:r>
              <a:rPr lang="en-US"/>
              <a:t>PUT /addresses/{id}</a:t>
            </a:r>
          </a:p>
          <a:p>
            <a:r>
              <a:rPr lang="en-US"/>
              <a:t>DELETE /addresses/{id}</a:t>
            </a:r>
          </a:p>
        </p:txBody>
      </p:sp>
    </p:spTree>
    <p:extLst>
      <p:ext uri="{BB962C8B-B14F-4D97-AF65-F5344CB8AC3E}">
        <p14:creationId xmlns:p14="http://schemas.microsoft.com/office/powerpoint/2010/main" val="130315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BA6D-67DF-0C3A-4CFE-BFB6D841051A}"/>
              </a:ext>
            </a:extLst>
          </p:cNvPr>
          <p:cNvSpPr>
            <a:spLocks noGrp="1"/>
          </p:cNvSpPr>
          <p:nvPr>
            <p:ph type="title"/>
          </p:nvPr>
        </p:nvSpPr>
        <p:spPr>
          <a:xfrm>
            <a:off x="838200" y="1"/>
            <a:ext cx="10515600" cy="1106904"/>
          </a:xfrm>
        </p:spPr>
        <p:txBody>
          <a:bodyPr/>
          <a:lstStyle/>
          <a:p>
            <a:r>
              <a:rPr lang="en-US"/>
              <a:t>6.5 Functional Test Cases</a:t>
            </a:r>
          </a:p>
        </p:txBody>
      </p:sp>
      <p:sp>
        <p:nvSpPr>
          <p:cNvPr id="3" name="Content Placeholder 2">
            <a:extLst>
              <a:ext uri="{FF2B5EF4-FFF2-40B4-BE49-F238E27FC236}">
                <a16:creationId xmlns:a16="http://schemas.microsoft.com/office/drawing/2014/main" id="{D392E73A-F7F1-EFAE-AD82-5EDB12F04BE2}"/>
              </a:ext>
            </a:extLst>
          </p:cNvPr>
          <p:cNvSpPr>
            <a:spLocks noGrp="1"/>
          </p:cNvSpPr>
          <p:nvPr>
            <p:ph idx="1"/>
          </p:nvPr>
        </p:nvSpPr>
        <p:spPr>
          <a:xfrm>
            <a:off x="838200" y="1267326"/>
            <a:ext cx="10515600" cy="5590673"/>
          </a:xfrm>
        </p:spPr>
        <p:txBody>
          <a:bodyPr/>
          <a:lstStyle/>
          <a:p>
            <a:pPr marL="0" indent="0">
              <a:buNone/>
            </a:pPr>
            <a:r>
              <a:rPr lang="en-US"/>
              <a:t>Test Case 1 – Valid Login</a:t>
            </a:r>
          </a:p>
          <a:p>
            <a:pPr marL="0" indent="0">
              <a:buNone/>
            </a:pPr>
            <a:r>
              <a:rPr lang="en-US"/>
              <a:t>Input: correct username and password</a:t>
            </a:r>
          </a:p>
          <a:p>
            <a:pPr marL="0" indent="0">
              <a:buNone/>
            </a:pPr>
            <a:r>
              <a:rPr lang="en-US"/>
              <a:t>Expected Result: 200 OK, token returned</a:t>
            </a:r>
          </a:p>
          <a:p>
            <a:pPr marL="0" indent="0">
              <a:buNone/>
            </a:pPr>
            <a:endParaRPr lang="en-US"/>
          </a:p>
          <a:p>
            <a:pPr marL="0" indent="0">
              <a:buNone/>
            </a:pPr>
            <a:r>
              <a:rPr lang="en-US"/>
              <a:t>Test Case 2 – Valid Search</a:t>
            </a:r>
          </a:p>
          <a:p>
            <a:pPr marL="0" indent="0">
              <a:buNone/>
            </a:pPr>
            <a:r>
              <a:rPr lang="en-US"/>
              <a:t>Input: partial street name (e.g. "bulev")</a:t>
            </a:r>
          </a:p>
          <a:p>
            <a:pPr marL="0" indent="0">
              <a:buNone/>
            </a:pPr>
            <a:r>
              <a:rPr lang="en-US"/>
              <a:t>Expected Result: 200 OK, JSON response with address hits</a:t>
            </a:r>
          </a:p>
          <a:p>
            <a:pPr marL="0" indent="0">
              <a:buNone/>
            </a:pPr>
            <a:r>
              <a:rPr lang="en-US"/>
              <a:t> </a:t>
            </a:r>
          </a:p>
          <a:p>
            <a:pPr marL="0" indent="0">
              <a:buNone/>
            </a:pPr>
            <a:r>
              <a:rPr lang="en-US"/>
              <a:t>Test Case 3 – Admin Create Address</a:t>
            </a:r>
          </a:p>
          <a:p>
            <a:pPr marL="0" indent="0">
              <a:buNone/>
            </a:pPr>
            <a:r>
              <a:rPr lang="en-US"/>
              <a:t>Input: valid address payload</a:t>
            </a:r>
          </a:p>
          <a:p>
            <a:pPr marL="0" indent="0">
              <a:buNone/>
            </a:pPr>
            <a:r>
              <a:rPr lang="en-US"/>
              <a:t>Expected Result: 200 OK, address created</a:t>
            </a:r>
          </a:p>
        </p:txBody>
      </p:sp>
    </p:spTree>
    <p:extLst>
      <p:ext uri="{BB962C8B-B14F-4D97-AF65-F5344CB8AC3E}">
        <p14:creationId xmlns:p14="http://schemas.microsoft.com/office/powerpoint/2010/main" val="1337102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96175-F01C-8946-8728-4F27147FA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06024-1397-EB1C-BF9F-62860CA3E88F}"/>
              </a:ext>
            </a:extLst>
          </p:cNvPr>
          <p:cNvSpPr>
            <a:spLocks noGrp="1"/>
          </p:cNvSpPr>
          <p:nvPr>
            <p:ph type="title"/>
          </p:nvPr>
        </p:nvSpPr>
        <p:spPr>
          <a:xfrm>
            <a:off x="838200" y="1"/>
            <a:ext cx="10515600" cy="1106904"/>
          </a:xfrm>
        </p:spPr>
        <p:txBody>
          <a:bodyPr/>
          <a:lstStyle/>
          <a:p>
            <a:r>
              <a:rPr lang="en-US"/>
              <a:t>6.6 Negative and Edge Case Tests</a:t>
            </a:r>
          </a:p>
        </p:txBody>
      </p:sp>
      <p:sp>
        <p:nvSpPr>
          <p:cNvPr id="3" name="Content Placeholder 2">
            <a:extLst>
              <a:ext uri="{FF2B5EF4-FFF2-40B4-BE49-F238E27FC236}">
                <a16:creationId xmlns:a16="http://schemas.microsoft.com/office/drawing/2014/main" id="{C48B79F4-4075-450F-7FC6-1E1840251F29}"/>
              </a:ext>
            </a:extLst>
          </p:cNvPr>
          <p:cNvSpPr>
            <a:spLocks noGrp="1"/>
          </p:cNvSpPr>
          <p:nvPr>
            <p:ph idx="1"/>
          </p:nvPr>
        </p:nvSpPr>
        <p:spPr>
          <a:xfrm>
            <a:off x="838200" y="1267326"/>
            <a:ext cx="10515600" cy="5590673"/>
          </a:xfrm>
        </p:spPr>
        <p:txBody>
          <a:bodyPr/>
          <a:lstStyle/>
          <a:p>
            <a:pPr marL="0" indent="0">
              <a:buNone/>
            </a:pPr>
            <a:r>
              <a:rPr lang="en-US"/>
              <a:t>Test Case 4 – Missing Authentication Token</a:t>
            </a:r>
          </a:p>
          <a:p>
            <a:pPr marL="0" indent="0">
              <a:buNone/>
            </a:pPr>
            <a:r>
              <a:rPr lang="en-US"/>
              <a:t>Input: request to /search without token</a:t>
            </a:r>
          </a:p>
          <a:p>
            <a:pPr marL="0" indent="0">
              <a:buNone/>
            </a:pPr>
            <a:r>
              <a:rPr lang="en-US"/>
              <a:t>Expected Result: 401 Unauthorized</a:t>
            </a:r>
          </a:p>
          <a:p>
            <a:pPr marL="0" indent="0">
              <a:buNone/>
            </a:pPr>
            <a:r>
              <a:rPr lang="en-US"/>
              <a:t> </a:t>
            </a:r>
          </a:p>
          <a:p>
            <a:pPr marL="0" indent="0">
              <a:buNone/>
            </a:pPr>
            <a:r>
              <a:rPr lang="en-US"/>
              <a:t>Test Case 5 – Invalid Credentials</a:t>
            </a:r>
          </a:p>
          <a:p>
            <a:pPr marL="0" indent="0">
              <a:buNone/>
            </a:pPr>
            <a:r>
              <a:rPr lang="en-US"/>
              <a:t>Input: wrong username or password</a:t>
            </a:r>
          </a:p>
          <a:p>
            <a:pPr marL="0" indent="0">
              <a:buNone/>
            </a:pPr>
            <a:r>
              <a:rPr lang="en-US"/>
              <a:t>Expected Result: 401 Unauthorized</a:t>
            </a:r>
          </a:p>
          <a:p>
            <a:pPr marL="0" indent="0">
              <a:buNone/>
            </a:pPr>
            <a:r>
              <a:rPr lang="en-US"/>
              <a:t> </a:t>
            </a:r>
          </a:p>
          <a:p>
            <a:pPr marL="0" indent="0">
              <a:buNone/>
            </a:pPr>
            <a:r>
              <a:rPr lang="en-US"/>
              <a:t>Test Case 6 – Invalid Search Query</a:t>
            </a:r>
          </a:p>
          <a:p>
            <a:pPr marL="0" indent="0">
              <a:buNone/>
            </a:pPr>
            <a:r>
              <a:rPr lang="en-US"/>
              <a:t>Input: special characters or long random string</a:t>
            </a:r>
          </a:p>
          <a:p>
            <a:pPr marL="0" indent="0">
              <a:buNone/>
            </a:pPr>
            <a:r>
              <a:rPr lang="en-US"/>
              <a:t>Expected Result: 200 OK, empty result set</a:t>
            </a:r>
          </a:p>
        </p:txBody>
      </p:sp>
    </p:spTree>
    <p:extLst>
      <p:ext uri="{BB962C8B-B14F-4D97-AF65-F5344CB8AC3E}">
        <p14:creationId xmlns:p14="http://schemas.microsoft.com/office/powerpoint/2010/main" val="121589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651C7-8BDE-440B-A000-C97AB1F1C618}"/>
              </a:ext>
            </a:extLst>
          </p:cNvPr>
          <p:cNvSpPr>
            <a:spLocks noGrp="1"/>
          </p:cNvSpPr>
          <p:nvPr>
            <p:ph type="title"/>
          </p:nvPr>
        </p:nvSpPr>
        <p:spPr/>
        <p:txBody>
          <a:bodyPr/>
          <a:lstStyle/>
          <a:p>
            <a:r>
              <a:rPr lang="en-US"/>
              <a:t>6.7 Performance Testing</a:t>
            </a:r>
          </a:p>
        </p:txBody>
      </p:sp>
      <p:sp>
        <p:nvSpPr>
          <p:cNvPr id="3" name="Content Placeholder 2">
            <a:extLst>
              <a:ext uri="{FF2B5EF4-FFF2-40B4-BE49-F238E27FC236}">
                <a16:creationId xmlns:a16="http://schemas.microsoft.com/office/drawing/2014/main" id="{C79F53B8-CD37-7E64-B81E-86BBED7B4B17}"/>
              </a:ext>
            </a:extLst>
          </p:cNvPr>
          <p:cNvSpPr>
            <a:spLocks noGrp="1"/>
          </p:cNvSpPr>
          <p:nvPr>
            <p:ph idx="1"/>
          </p:nvPr>
        </p:nvSpPr>
        <p:spPr/>
        <p:txBody>
          <a:bodyPr/>
          <a:lstStyle/>
          <a:p>
            <a:pPr marL="0" indent="0">
              <a:buNone/>
            </a:pPr>
            <a:r>
              <a:rPr lang="en-US"/>
              <a:t>Using the Postman Collection Runner, multiple consecutive search requests are executed.</a:t>
            </a:r>
          </a:p>
          <a:p>
            <a:pPr marL="0" indent="0">
              <a:buNone/>
            </a:pPr>
            <a:r>
              <a:rPr lang="en-US"/>
              <a:t>The system remains stable and responsive, with consistent response times.</a:t>
            </a:r>
          </a:p>
          <a:p>
            <a:endParaRPr lang="en-US"/>
          </a:p>
        </p:txBody>
      </p:sp>
    </p:spTree>
    <p:extLst>
      <p:ext uri="{BB962C8B-B14F-4D97-AF65-F5344CB8AC3E}">
        <p14:creationId xmlns:p14="http://schemas.microsoft.com/office/powerpoint/2010/main" val="513532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B68E-35D1-B26B-1281-D5248A22ED38}"/>
              </a:ext>
            </a:extLst>
          </p:cNvPr>
          <p:cNvSpPr>
            <a:spLocks noGrp="1"/>
          </p:cNvSpPr>
          <p:nvPr>
            <p:ph type="title"/>
          </p:nvPr>
        </p:nvSpPr>
        <p:spPr/>
        <p:txBody>
          <a:bodyPr/>
          <a:lstStyle/>
          <a:p>
            <a:r>
              <a:rPr lang="en-US"/>
              <a:t>6.8 Automated Postman Test Scripts</a:t>
            </a:r>
          </a:p>
        </p:txBody>
      </p:sp>
      <p:sp>
        <p:nvSpPr>
          <p:cNvPr id="3" name="Content Placeholder 2">
            <a:extLst>
              <a:ext uri="{FF2B5EF4-FFF2-40B4-BE49-F238E27FC236}">
                <a16:creationId xmlns:a16="http://schemas.microsoft.com/office/drawing/2014/main" id="{3B45ACAE-EF2E-9B01-7BC5-E427B5BB42B2}"/>
              </a:ext>
            </a:extLst>
          </p:cNvPr>
          <p:cNvSpPr>
            <a:spLocks noGrp="1"/>
          </p:cNvSpPr>
          <p:nvPr>
            <p:ph idx="1"/>
          </p:nvPr>
        </p:nvSpPr>
        <p:spPr/>
        <p:txBody>
          <a:bodyPr>
            <a:normAutofit fontScale="92500" lnSpcReduction="10000"/>
          </a:bodyPr>
          <a:lstStyle/>
          <a:p>
            <a:pPr marL="0" indent="0">
              <a:buNone/>
            </a:pPr>
            <a:r>
              <a:rPr lang="en-US"/>
              <a:t>Postman test scripts are added to validate responses automatically.</a:t>
            </a:r>
          </a:p>
          <a:p>
            <a:pPr marL="0" indent="0">
              <a:buNone/>
            </a:pPr>
            <a:endParaRPr lang="en-US"/>
          </a:p>
          <a:p>
            <a:pPr marL="0" indent="0">
              <a:buNone/>
            </a:pPr>
            <a:r>
              <a:rPr lang="en-US"/>
              <a:t>Example:</a:t>
            </a:r>
          </a:p>
          <a:p>
            <a:pPr marL="0" indent="0">
              <a:buNone/>
            </a:pPr>
            <a:r>
              <a:rPr lang="en-US"/>
              <a:t>pm.test("Status code is 200", function () {</a:t>
            </a:r>
          </a:p>
          <a:p>
            <a:pPr marL="0" indent="0">
              <a:buNone/>
            </a:pPr>
            <a:r>
              <a:rPr lang="en-US"/>
              <a:t>    pm.response.to.have.status(200);</a:t>
            </a:r>
          </a:p>
          <a:p>
            <a:pPr marL="0" indent="0">
              <a:buNone/>
            </a:pPr>
            <a:r>
              <a:rPr lang="en-US"/>
              <a:t>});</a:t>
            </a:r>
          </a:p>
          <a:p>
            <a:pPr marL="0" indent="0">
              <a:buNone/>
            </a:pPr>
            <a:r>
              <a:rPr lang="en-US"/>
              <a:t> </a:t>
            </a:r>
          </a:p>
          <a:p>
            <a:pPr marL="0" indent="0">
              <a:buNone/>
            </a:pPr>
            <a:r>
              <a:rPr lang="en-US"/>
              <a:t>pm.test("Response is JSON", function () {</a:t>
            </a:r>
          </a:p>
          <a:p>
            <a:pPr marL="0" indent="0">
              <a:buNone/>
            </a:pPr>
            <a:r>
              <a:rPr lang="en-US"/>
              <a:t>    pm.response.to.be.json;</a:t>
            </a:r>
          </a:p>
          <a:p>
            <a:pPr marL="0" indent="0">
              <a:buNone/>
            </a:pPr>
            <a:r>
              <a:rPr lang="en-US"/>
              <a:t>});</a:t>
            </a:r>
          </a:p>
        </p:txBody>
      </p:sp>
    </p:spTree>
    <p:extLst>
      <p:ext uri="{BB962C8B-B14F-4D97-AF65-F5344CB8AC3E}">
        <p14:creationId xmlns:p14="http://schemas.microsoft.com/office/powerpoint/2010/main" val="8077882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11</TotalTime>
  <Words>473</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Rockwell</vt:lpstr>
      <vt:lpstr>Rockwell Condensed</vt:lpstr>
      <vt:lpstr>Wingdings</vt:lpstr>
      <vt:lpstr>Wood Type</vt:lpstr>
      <vt:lpstr>Milestone 6 – API Testing with Postman</vt:lpstr>
      <vt:lpstr>Introduction</vt:lpstr>
      <vt:lpstr>6.1 Purpose of API Testing</vt:lpstr>
      <vt:lpstr>6.2 Postman Environment Setup</vt:lpstr>
      <vt:lpstr>6.3 Postman Collection Structure</vt:lpstr>
      <vt:lpstr>6.4 Tested Endpoints</vt:lpstr>
      <vt:lpstr>6.5 Functional Test Cases</vt:lpstr>
      <vt:lpstr>6.6 Negative and Edge Case Tests</vt:lpstr>
      <vt:lpstr>6.7 Performance Testing</vt:lpstr>
      <vt:lpstr>6.8 Automated Postman Test Scripts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STEFAN (153719)</dc:creator>
  <cp:lastModifiedBy>Cristian STEFAN (153719)</cp:lastModifiedBy>
  <cp:revision>2</cp:revision>
  <dcterms:created xsi:type="dcterms:W3CDTF">2025-12-16T15:12:58Z</dcterms:created>
  <dcterms:modified xsi:type="dcterms:W3CDTF">2025-12-16T15:24:01Z</dcterms:modified>
</cp:coreProperties>
</file>