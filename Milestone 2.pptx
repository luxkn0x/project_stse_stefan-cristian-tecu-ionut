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5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C8F74D-23B1-4297-A0C5-F62F287C40A1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47DF5D-C923-4649-B345-864B37E5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241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47DF5D-C923-4649-B345-864B37E5112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3766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A0CCF-F81A-419F-9782-41BC19F9788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082735A1-40CC-4917-A9FE-28E73A590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638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A0CCF-F81A-419F-9782-41BC19F9788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735A1-40CC-4917-A9FE-28E73A590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303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D37A0CCF-F81A-419F-9782-41BC19F9788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082735A1-40CC-4917-A9FE-28E73A590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062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A0CCF-F81A-419F-9782-41BC19F9788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735A1-40CC-4917-A9FE-28E73A590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877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A0CCF-F81A-419F-9782-41BC19F9788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735A1-40CC-4917-A9FE-28E73A590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256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A0CCF-F81A-419F-9782-41BC19F9788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735A1-40CC-4917-A9FE-28E73A590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453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A0CCF-F81A-419F-9782-41BC19F9788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735A1-40CC-4917-A9FE-28E73A590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999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A0CCF-F81A-419F-9782-41BC19F9788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735A1-40CC-4917-A9FE-28E73A590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805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A0CCF-F81A-419F-9782-41BC19F97884}" type="datetimeFigureOut">
              <a:rPr lang="en-US" smtClean="0"/>
              <a:t>12/16/2025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735A1-40CC-4917-A9FE-28E73A590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090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A0CCF-F81A-419F-9782-41BC19F9788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735A1-40CC-4917-A9FE-28E73A590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3654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A0CCF-F81A-419F-9782-41BC19F9788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735A1-40CC-4917-A9FE-28E73A590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984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D37A0CCF-F81A-419F-9782-41BC19F9788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082735A1-40CC-4917-A9FE-28E73A590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78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7ED2B-FC97-B8B2-EC8C-7411715ABD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Milestone 2 – Use Cases</a:t>
            </a:r>
          </a:p>
        </p:txBody>
      </p:sp>
    </p:spTree>
    <p:extLst>
      <p:ext uri="{BB962C8B-B14F-4D97-AF65-F5344CB8AC3E}">
        <p14:creationId xmlns:p14="http://schemas.microsoft.com/office/powerpoint/2010/main" val="126025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72011-E06F-FA7A-83A7-F590DA1B3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086B3-152F-4401-BC86-4F9C5795E6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This milestone defines the functional and non-functional use cases of the Address Finder application, aligned strictly with the real implementation of the system.</a:t>
            </a:r>
          </a:p>
          <a:p>
            <a:pPr marL="0" indent="0">
              <a:buNone/>
            </a:pPr>
            <a:r>
              <a:rPr lang="en-US"/>
              <a:t> </a:t>
            </a:r>
          </a:p>
          <a:p>
            <a:pPr marL="0" indent="0">
              <a:buNone/>
            </a:pPr>
            <a:r>
              <a:rPr lang="en-US"/>
              <a:t>The application consists of:</a:t>
            </a:r>
          </a:p>
          <a:p>
            <a:pPr lvl="1"/>
            <a:r>
              <a:rPr lang="en-US"/>
              <a:t>A Node.js (Express) backend</a:t>
            </a:r>
          </a:p>
          <a:p>
            <a:pPr lvl="1"/>
            <a:r>
              <a:rPr lang="en-US"/>
              <a:t>Elasticsearch for search and indexing</a:t>
            </a:r>
          </a:p>
          <a:p>
            <a:pPr lvl="1"/>
            <a:r>
              <a:rPr lang="en-US"/>
              <a:t>Kibana for visualization and debugging</a:t>
            </a:r>
          </a:p>
          <a:p>
            <a:pPr lvl="1"/>
            <a:r>
              <a:rPr lang="en-US"/>
              <a:t>A simple HTML/JavaScript frontend</a:t>
            </a:r>
          </a:p>
          <a:p>
            <a:pPr lvl="1"/>
            <a:r>
              <a:rPr lang="en-US"/>
              <a:t>Token-based authentication with user and admin roles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366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B3804-4E53-E3A1-C64B-205BAD1381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2088" y="1704599"/>
            <a:ext cx="9144000" cy="2370974"/>
          </a:xfrm>
        </p:spPr>
        <p:txBody>
          <a:bodyPr/>
          <a:lstStyle/>
          <a:p>
            <a:r>
              <a:rPr lang="en-US" sz="8800"/>
              <a:t>2.1 </a:t>
            </a:r>
            <a:r>
              <a:rPr lang="en-US"/>
              <a:t>Functional</a:t>
            </a:r>
            <a:r>
              <a:rPr lang="en-US" sz="8800"/>
              <a:t> Use Cases</a:t>
            </a:r>
            <a:endParaRPr lang="en-US" sz="28700"/>
          </a:p>
        </p:txBody>
      </p:sp>
    </p:spTree>
    <p:extLst>
      <p:ext uri="{BB962C8B-B14F-4D97-AF65-F5344CB8AC3E}">
        <p14:creationId xmlns:p14="http://schemas.microsoft.com/office/powerpoint/2010/main" val="4044369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B5727-B447-81B7-3A46-35EAB927C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085" y="245096"/>
            <a:ext cx="10515600" cy="709696"/>
          </a:xfrm>
        </p:spPr>
        <p:txBody>
          <a:bodyPr>
            <a:normAutofit fontScale="90000"/>
          </a:bodyPr>
          <a:lstStyle/>
          <a:p>
            <a:r>
              <a:rPr lang="en-US" b="1"/>
              <a:t>UC1 — Start System 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FEAAC6-E337-0223-FD22-142EB972B4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0421" y="1203158"/>
            <a:ext cx="5859379" cy="4973805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sz="6000"/>
              <a:t>Actor: </a:t>
            </a:r>
          </a:p>
          <a:p>
            <a:pPr marL="0" indent="0">
              <a:buNone/>
            </a:pPr>
            <a:r>
              <a:rPr lang="en-US" sz="6000"/>
              <a:t>Developer / DevOps Engineer</a:t>
            </a:r>
          </a:p>
          <a:p>
            <a:pPr marL="0" indent="0">
              <a:buNone/>
            </a:pPr>
            <a:r>
              <a:rPr lang="en-US" sz="6000"/>
              <a:t> </a:t>
            </a:r>
          </a:p>
          <a:p>
            <a:pPr marL="0" indent="0">
              <a:buNone/>
            </a:pPr>
            <a:r>
              <a:rPr lang="en-US" sz="6000"/>
              <a:t>Description: </a:t>
            </a:r>
          </a:p>
          <a:p>
            <a:pPr marL="0" indent="0">
              <a:buNone/>
            </a:pPr>
            <a:r>
              <a:rPr lang="en-US" sz="6000"/>
              <a:t>This use case describes starting all required services for the Address Finder application.</a:t>
            </a:r>
          </a:p>
          <a:p>
            <a:pPr marL="0" indent="0">
              <a:buNone/>
            </a:pPr>
            <a:r>
              <a:rPr lang="en-US" sz="6000"/>
              <a:t> </a:t>
            </a:r>
          </a:p>
          <a:p>
            <a:pPr marL="0" indent="0">
              <a:buNone/>
            </a:pPr>
            <a:r>
              <a:rPr lang="en-US" sz="6000"/>
              <a:t>Preconditions:</a:t>
            </a:r>
          </a:p>
          <a:p>
            <a:pPr lvl="1"/>
            <a:r>
              <a:rPr lang="en-US" sz="5000"/>
              <a:t>Docker is installed</a:t>
            </a:r>
          </a:p>
          <a:p>
            <a:pPr lvl="1"/>
            <a:r>
              <a:rPr lang="en-US" sz="5000"/>
              <a:t>Node.js (&gt;=18) is installed</a:t>
            </a:r>
          </a:p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D4AC11-3ED2-8DAE-6FA1-960613EC86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203158"/>
            <a:ext cx="5859378" cy="4973805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sz="5100"/>
              <a:t>Workflow:</a:t>
            </a:r>
          </a:p>
          <a:p>
            <a:pPr lvl="1"/>
            <a:r>
              <a:rPr lang="en-US" sz="4400"/>
              <a:t>Start Docker containers for Elasticsearch and Kibana.</a:t>
            </a:r>
          </a:p>
          <a:p>
            <a:pPr lvl="1"/>
            <a:r>
              <a:rPr lang="en-US" sz="4400"/>
              <a:t>Verify Elasticsearch is running at http://localhost:9200.</a:t>
            </a:r>
          </a:p>
          <a:p>
            <a:pPr lvl="1"/>
            <a:r>
              <a:rPr lang="en-US" sz="4400"/>
              <a:t>Verify Kibana is running at http://localhost:5601.</a:t>
            </a:r>
          </a:p>
          <a:p>
            <a:pPr lvl="1"/>
            <a:r>
              <a:rPr lang="en-US" sz="4400"/>
              <a:t>Start backend server using: node server.js.</a:t>
            </a:r>
          </a:p>
          <a:p>
            <a:pPr lvl="1"/>
            <a:r>
              <a:rPr lang="en-US" sz="4400"/>
              <a:t>Backend becomes available at http://localhost:3000.</a:t>
            </a:r>
          </a:p>
          <a:p>
            <a:pPr marL="0" indent="0">
              <a:buNone/>
            </a:pPr>
            <a:r>
              <a:rPr lang="en-US" sz="5100"/>
              <a:t> </a:t>
            </a:r>
          </a:p>
          <a:p>
            <a:pPr marL="0" indent="0">
              <a:buNone/>
            </a:pPr>
            <a:r>
              <a:rPr lang="en-US" sz="5100"/>
              <a:t>Postconditions:</a:t>
            </a:r>
          </a:p>
          <a:p>
            <a:r>
              <a:rPr lang="en-US" sz="5100"/>
              <a:t>Elasticsearch, Kibana, and backend API are running and reachable.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452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7D8CC-D783-5F44-00D9-BFBB7E047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646" y="131976"/>
            <a:ext cx="10515600" cy="693654"/>
          </a:xfrm>
        </p:spPr>
        <p:txBody>
          <a:bodyPr>
            <a:noAutofit/>
          </a:bodyPr>
          <a:lstStyle/>
          <a:p>
            <a:r>
              <a:rPr lang="en-US" sz="4400" b="1"/>
              <a:t>UC2 — Authenticated Address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E69ACA-36A4-EB9D-4EC4-9CA03332DC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0421" y="1058780"/>
            <a:ext cx="5859379" cy="579922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300"/>
              <a:t>Actor: Authenticated User</a:t>
            </a:r>
          </a:p>
          <a:p>
            <a:pPr marL="0" indent="0">
              <a:buNone/>
            </a:pPr>
            <a:r>
              <a:rPr lang="en-US" sz="3300"/>
              <a:t> </a:t>
            </a:r>
          </a:p>
          <a:p>
            <a:pPr marL="0" indent="0">
              <a:buNone/>
            </a:pPr>
            <a:r>
              <a:rPr lang="en-US" sz="3300"/>
              <a:t>Description:</a:t>
            </a:r>
          </a:p>
          <a:p>
            <a:pPr marL="0" indent="0">
              <a:buNone/>
            </a:pPr>
            <a:r>
              <a:rPr lang="en-US" sz="3300"/>
              <a:t>Allows an authenticated user to search addresses using partial or complete input.</a:t>
            </a:r>
          </a:p>
          <a:p>
            <a:pPr marL="0" indent="0">
              <a:buNone/>
            </a:pPr>
            <a:r>
              <a:rPr lang="en-US" sz="3300"/>
              <a:t> </a:t>
            </a:r>
          </a:p>
          <a:p>
            <a:pPr marL="0" indent="0">
              <a:buNone/>
            </a:pPr>
            <a:r>
              <a:rPr lang="en-US" sz="3300"/>
              <a:t>Preconditions:</a:t>
            </a:r>
          </a:p>
          <a:p>
            <a:pPr lvl="1"/>
            <a:r>
              <a:rPr lang="en-US" sz="2800"/>
              <a:t>User is authenticated and has a valid token.</a:t>
            </a:r>
          </a:p>
          <a:p>
            <a:pPr lvl="1"/>
            <a:r>
              <a:rPr lang="en-US" sz="2800"/>
              <a:t>Backend and Elasticsearch are running.</a:t>
            </a:r>
          </a:p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0719AB-7A84-27E3-773D-88C17DE97A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87453" y="1058780"/>
            <a:ext cx="6144125" cy="579922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000"/>
              <a:t>Workflow:</a:t>
            </a:r>
          </a:p>
          <a:p>
            <a:pPr lvl="1"/>
            <a:r>
              <a:rPr lang="en-US" sz="2600"/>
              <a:t>User logs in at /login using valid credentials.</a:t>
            </a:r>
          </a:p>
          <a:p>
            <a:pPr lvl="1"/>
            <a:r>
              <a:rPr lang="en-US" sz="2600"/>
              <a:t>Backend returns an authentication token.</a:t>
            </a:r>
          </a:p>
          <a:p>
            <a:pPr lvl="1"/>
            <a:r>
              <a:rPr lang="en-US" sz="2600"/>
              <a:t>User performs GET request to /search?q=&lt;term&gt;&amp;token=&lt;token&gt;.</a:t>
            </a:r>
          </a:p>
          <a:p>
            <a:pPr lvl="1"/>
            <a:r>
              <a:rPr lang="en-US" sz="2600"/>
              <a:t>Backend validates token.</a:t>
            </a:r>
          </a:p>
          <a:p>
            <a:pPr lvl="1"/>
            <a:r>
              <a:rPr lang="en-US" sz="2600"/>
              <a:t>Backend sends a multi_match query to Elasticsearch.</a:t>
            </a:r>
          </a:p>
          <a:p>
            <a:pPr lvl="1"/>
            <a:r>
              <a:rPr lang="en-US" sz="2600"/>
              <a:t>Elasticsearch returns ranked results.</a:t>
            </a:r>
          </a:p>
          <a:p>
            <a:pPr lvl="1"/>
            <a:r>
              <a:rPr lang="en-US" sz="2600"/>
              <a:t>Backend returns structured JSON results.</a:t>
            </a:r>
          </a:p>
          <a:p>
            <a:pPr marL="0" indent="0">
              <a:buNone/>
            </a:pPr>
            <a:r>
              <a:rPr lang="en-US" sz="3000"/>
              <a:t> </a:t>
            </a:r>
          </a:p>
          <a:p>
            <a:pPr marL="0" indent="0">
              <a:buNone/>
            </a:pPr>
            <a:r>
              <a:rPr lang="en-US" sz="3000"/>
              <a:t>Postconditions:</a:t>
            </a:r>
          </a:p>
          <a:p>
            <a:pPr lvl="1"/>
            <a:r>
              <a:rPr lang="en-US" sz="2600"/>
              <a:t>User receives a list of matching addresses with relevance scores.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036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9AF2D-5C27-C26A-847D-2A53AA45F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072" y="141402"/>
            <a:ext cx="10515600" cy="753980"/>
          </a:xfrm>
        </p:spPr>
        <p:txBody>
          <a:bodyPr>
            <a:normAutofit fontScale="90000"/>
          </a:bodyPr>
          <a:lstStyle/>
          <a:p>
            <a:r>
              <a:rPr lang="en-US" b="1"/>
              <a:t>UC3 — Visualize Data in Kibana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FFBCC8-68EA-7773-0A8F-502506392E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6674" y="1058026"/>
            <a:ext cx="5763126" cy="5495925"/>
          </a:xfrm>
        </p:spPr>
        <p:txBody>
          <a:bodyPr/>
          <a:lstStyle/>
          <a:p>
            <a:pPr marL="0" indent="0">
              <a:buNone/>
            </a:pPr>
            <a:r>
              <a:rPr lang="en-US" sz="3600"/>
              <a:t>Actor: </a:t>
            </a:r>
          </a:p>
          <a:p>
            <a:pPr marL="0" indent="0">
              <a:buNone/>
            </a:pPr>
            <a:r>
              <a:rPr lang="en-US" sz="3600"/>
              <a:t>Developer / Data Analyst</a:t>
            </a:r>
          </a:p>
          <a:p>
            <a:pPr marL="0" indent="0">
              <a:buNone/>
            </a:pPr>
            <a:r>
              <a:rPr lang="en-US" sz="3600"/>
              <a:t> </a:t>
            </a:r>
          </a:p>
          <a:p>
            <a:pPr marL="0" indent="0">
              <a:buNone/>
            </a:pPr>
            <a:r>
              <a:rPr lang="en-US" sz="3600"/>
              <a:t>Description:</a:t>
            </a:r>
          </a:p>
          <a:p>
            <a:pPr marL="0" indent="0">
              <a:buNone/>
            </a:pPr>
            <a:r>
              <a:rPr lang="en-US" sz="3600"/>
              <a:t>Allows inspection and analysis of indexed address data using Kibana.</a:t>
            </a:r>
          </a:p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A29200-C7A5-15F6-9329-A3740B151C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058027"/>
            <a:ext cx="5763125" cy="5495926"/>
          </a:xfrm>
        </p:spPr>
        <p:txBody>
          <a:bodyPr/>
          <a:lstStyle/>
          <a:p>
            <a:pPr marL="0" indent="0">
              <a:buNone/>
            </a:pPr>
            <a:r>
              <a:rPr lang="en-US" sz="3600"/>
              <a:t>Workflow:</a:t>
            </a:r>
          </a:p>
          <a:p>
            <a:pPr lvl="1"/>
            <a:r>
              <a:rPr lang="en-US" sz="3200"/>
              <a:t>Open Kibana at http://localhost:5601.</a:t>
            </a:r>
          </a:p>
          <a:p>
            <a:pPr lvl="1"/>
            <a:r>
              <a:rPr lang="en-US" sz="3200"/>
              <a:t>Use Dev Tools to query the addresses index.</a:t>
            </a:r>
          </a:p>
          <a:p>
            <a:pPr lvl="1"/>
            <a:r>
              <a:rPr lang="en-US" sz="3200"/>
              <a:t>Inspect mappings, documents, and query behavior.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574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CCE35-95A4-6517-8C5E-5A90479E2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589" y="115719"/>
            <a:ext cx="10515600" cy="565317"/>
          </a:xfrm>
        </p:spPr>
        <p:txBody>
          <a:bodyPr>
            <a:noAutofit/>
          </a:bodyPr>
          <a:lstStyle/>
          <a:p>
            <a:r>
              <a:rPr lang="en-US" sz="3600" b="1"/>
              <a:t>UC4 — Integrate External Systems via REST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26612-FDDB-3972-9B62-9E3AC5C061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4589" y="681036"/>
            <a:ext cx="5795211" cy="6176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600"/>
              <a:t>Actor: </a:t>
            </a:r>
          </a:p>
          <a:p>
            <a:pPr marL="0" indent="0">
              <a:buNone/>
            </a:pPr>
            <a:r>
              <a:rPr lang="en-US" sz="3600"/>
              <a:t>External Application</a:t>
            </a:r>
          </a:p>
          <a:p>
            <a:pPr marL="0" indent="0">
              <a:buNone/>
            </a:pPr>
            <a:r>
              <a:rPr lang="en-US" sz="3600"/>
              <a:t> </a:t>
            </a:r>
          </a:p>
          <a:p>
            <a:pPr marL="0" indent="0">
              <a:buNone/>
            </a:pPr>
            <a:r>
              <a:rPr lang="en-US" sz="3600"/>
              <a:t>Description:</a:t>
            </a:r>
          </a:p>
          <a:p>
            <a:pPr marL="0" indent="0">
              <a:buNone/>
            </a:pPr>
            <a:r>
              <a:rPr lang="en-US" sz="3600"/>
              <a:t>External systems can query the API using authenticated REST calls.</a:t>
            </a:r>
          </a:p>
          <a:p>
            <a:endParaRPr lang="en-US" sz="3600"/>
          </a:p>
          <a:p>
            <a:pPr marL="0" indent="0">
              <a:buNone/>
            </a:pPr>
            <a:r>
              <a:rPr lang="en-US" sz="3600"/>
              <a:t>Preconditions:</a:t>
            </a:r>
          </a:p>
          <a:p>
            <a:pPr lvl="1"/>
            <a:r>
              <a:rPr lang="en-US" sz="3200"/>
              <a:t>Valid authentication token is required.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7FBFA7-730C-C3D4-5CD4-BDA78E740D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681036"/>
            <a:ext cx="5795211" cy="6176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600"/>
              <a:t>Workflow:</a:t>
            </a:r>
          </a:p>
          <a:p>
            <a:pPr lvl="1"/>
            <a:r>
              <a:rPr lang="en-US" sz="3200"/>
              <a:t>External system authenticates and retrieves token.</a:t>
            </a:r>
          </a:p>
          <a:p>
            <a:pPr lvl="1"/>
            <a:r>
              <a:rPr lang="en-US" sz="3200"/>
              <a:t>Sends authenticated GET requests to /search.</a:t>
            </a:r>
          </a:p>
          <a:p>
            <a:pPr lvl="1"/>
            <a:r>
              <a:rPr lang="en-US" sz="3200"/>
              <a:t>Receives JSON-formatted results.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622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2BCE2-2524-1A3C-77CB-5F13010BD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11" y="386499"/>
            <a:ext cx="10515600" cy="549275"/>
          </a:xfrm>
        </p:spPr>
        <p:txBody>
          <a:bodyPr>
            <a:noAutofit/>
          </a:bodyPr>
          <a:lstStyle/>
          <a:p>
            <a:r>
              <a:rPr lang="en-US" sz="4400" b="1"/>
              <a:t>UC5 — Manage Addresses (Admin CRUD)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74387-ABBE-CFBF-99E2-3498374C44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4379" y="1423447"/>
            <a:ext cx="5875421" cy="5434552"/>
          </a:xfrm>
        </p:spPr>
        <p:txBody>
          <a:bodyPr/>
          <a:lstStyle/>
          <a:p>
            <a:pPr marL="0" indent="0">
              <a:buNone/>
            </a:pPr>
            <a:r>
              <a:rPr lang="en-US" sz="2800"/>
              <a:t>Actor: </a:t>
            </a:r>
          </a:p>
          <a:p>
            <a:pPr marL="0" indent="0">
              <a:buNone/>
            </a:pPr>
            <a:r>
              <a:rPr lang="en-US" sz="2800"/>
              <a:t>Admin User</a:t>
            </a:r>
          </a:p>
          <a:p>
            <a:pPr marL="0" indent="0">
              <a:buNone/>
            </a:pPr>
            <a:endParaRPr lang="en-US" sz="2800"/>
          </a:p>
          <a:p>
            <a:pPr marL="0" indent="0">
              <a:buNone/>
            </a:pPr>
            <a:r>
              <a:rPr lang="en-US" sz="2800"/>
              <a:t>Description:</a:t>
            </a:r>
          </a:p>
          <a:p>
            <a:pPr marL="0" indent="0">
              <a:buNone/>
            </a:pPr>
            <a:r>
              <a:rPr lang="en-US" sz="2800"/>
              <a:t>Admin users can create, read, update, and delete address records.</a:t>
            </a:r>
          </a:p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DFAF52-3FE4-D1D3-075B-BDF3C4A687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23447"/>
            <a:ext cx="5875420" cy="5434552"/>
          </a:xfrm>
        </p:spPr>
        <p:txBody>
          <a:bodyPr/>
          <a:lstStyle/>
          <a:p>
            <a:pPr marL="0" indent="0">
              <a:buNone/>
            </a:pPr>
            <a:r>
              <a:rPr lang="en-US" sz="3200"/>
              <a:t>Endpoints:</a:t>
            </a:r>
          </a:p>
          <a:p>
            <a:pPr lvl="1"/>
            <a:r>
              <a:rPr lang="en-US" sz="2800"/>
              <a:t>POST /addresses</a:t>
            </a:r>
          </a:p>
          <a:p>
            <a:pPr lvl="1"/>
            <a:r>
              <a:rPr lang="en-US" sz="2800"/>
              <a:t>GET /addresses/:id</a:t>
            </a:r>
          </a:p>
          <a:p>
            <a:pPr lvl="1"/>
            <a:r>
              <a:rPr lang="en-US" sz="2800"/>
              <a:t>PUT /addresses/:id</a:t>
            </a:r>
          </a:p>
          <a:p>
            <a:pPr lvl="1"/>
            <a:r>
              <a:rPr lang="en-US" sz="2800"/>
              <a:t>DELETE /addresses/:id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3596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2F2E5-357D-E0F1-EA11-F70E0FFE3E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8800"/>
              <a:t>2.2 Non-Functional Use Cases</a:t>
            </a:r>
          </a:p>
        </p:txBody>
      </p:sp>
    </p:spTree>
    <p:extLst>
      <p:ext uri="{BB962C8B-B14F-4D97-AF65-F5344CB8AC3E}">
        <p14:creationId xmlns:p14="http://schemas.microsoft.com/office/powerpoint/2010/main" val="19040763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AAF6C-9F37-C37F-07C0-1814C9A61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144" y="207389"/>
            <a:ext cx="10515600" cy="741780"/>
          </a:xfrm>
        </p:spPr>
        <p:txBody>
          <a:bodyPr>
            <a:normAutofit fontScale="90000"/>
          </a:bodyPr>
          <a:lstStyle/>
          <a:p>
            <a:r>
              <a:rPr lang="en-US" b="1"/>
              <a:t>UC6 — Performance &amp; Scalability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0EF66-16AD-C46E-6502-52A82CD11F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/>
              <a:t>Search responses under 200ms.</a:t>
            </a:r>
          </a:p>
          <a:p>
            <a:r>
              <a:rPr lang="en-US" sz="3600"/>
              <a:t>Elasticsearch optimized with weighted fields.</a:t>
            </a:r>
          </a:p>
        </p:txBody>
      </p:sp>
    </p:spTree>
    <p:extLst>
      <p:ext uri="{BB962C8B-B14F-4D97-AF65-F5344CB8AC3E}">
        <p14:creationId xmlns:p14="http://schemas.microsoft.com/office/powerpoint/2010/main" val="18370782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691A5-AAA7-FC34-4B4D-81CCC457B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8168"/>
            <a:ext cx="10515600" cy="725738"/>
          </a:xfrm>
        </p:spPr>
        <p:txBody>
          <a:bodyPr>
            <a:normAutofit fontScale="90000"/>
          </a:bodyPr>
          <a:lstStyle/>
          <a:p>
            <a:r>
              <a:rPr lang="en-US" b="1"/>
              <a:t>UC7 — Reliability &amp; Availability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06B66-51A8-9800-3E47-32F5D80995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/>
              <a:t>Docker container restart policies.</a:t>
            </a:r>
          </a:p>
          <a:p>
            <a:r>
              <a:rPr lang="en-US" sz="3600"/>
              <a:t>Graceful backend error handling.</a:t>
            </a:r>
          </a:p>
        </p:txBody>
      </p:sp>
    </p:spTree>
    <p:extLst>
      <p:ext uri="{BB962C8B-B14F-4D97-AF65-F5344CB8AC3E}">
        <p14:creationId xmlns:p14="http://schemas.microsoft.com/office/powerpoint/2010/main" val="23422115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50D07-2FE0-BB33-44DE-0560C7C95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0753"/>
            <a:ext cx="10515600" cy="677612"/>
          </a:xfrm>
        </p:spPr>
        <p:txBody>
          <a:bodyPr>
            <a:normAutofit fontScale="90000"/>
          </a:bodyPr>
          <a:lstStyle/>
          <a:p>
            <a:r>
              <a:rPr lang="en-US" b="1"/>
              <a:t>UC8 — Security &amp; Access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566DBC-5ACC-963A-C2FA-9E222D658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/>
              <a:t>Token-based authentication.</a:t>
            </a:r>
          </a:p>
          <a:p>
            <a:r>
              <a:rPr lang="en-US" sz="3600"/>
              <a:t>Role-based access (user/admin).</a:t>
            </a:r>
          </a:p>
          <a:p>
            <a:r>
              <a:rPr lang="en-US" sz="3600"/>
              <a:t>Input validation.</a:t>
            </a:r>
          </a:p>
        </p:txBody>
      </p:sp>
    </p:spTree>
    <p:extLst>
      <p:ext uri="{BB962C8B-B14F-4D97-AF65-F5344CB8AC3E}">
        <p14:creationId xmlns:p14="http://schemas.microsoft.com/office/powerpoint/2010/main" val="32742582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6E6E5-8348-3A53-324A-5ED11973F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602" y="685800"/>
            <a:ext cx="10515600" cy="693653"/>
          </a:xfrm>
        </p:spPr>
        <p:txBody>
          <a:bodyPr>
            <a:normAutofit fontScale="90000"/>
          </a:bodyPr>
          <a:lstStyle/>
          <a:p>
            <a:r>
              <a:rPr lang="en-US" b="1"/>
              <a:t>UC9 — Maintainability &amp; Extensibility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7729FD-EBB0-4DAB-F2D7-266C155643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/>
              <a:t>Modular Node.js code.</a:t>
            </a:r>
          </a:p>
          <a:p>
            <a:r>
              <a:rPr lang="en-US" sz="3600"/>
              <a:t>Elasticsearch index versioning.</a:t>
            </a:r>
          </a:p>
          <a:p>
            <a:r>
              <a:rPr lang="en-US" sz="3600"/>
              <a:t>Configurable via environment variables.</a:t>
            </a:r>
          </a:p>
        </p:txBody>
      </p:sp>
    </p:spTree>
    <p:extLst>
      <p:ext uri="{BB962C8B-B14F-4D97-AF65-F5344CB8AC3E}">
        <p14:creationId xmlns:p14="http://schemas.microsoft.com/office/powerpoint/2010/main" val="31318091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18</TotalTime>
  <Words>530</Words>
  <Application>Microsoft Office PowerPoint</Application>
  <PresentationFormat>Widescreen</PresentationFormat>
  <Paragraphs>100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Calibri</vt:lpstr>
      <vt:lpstr>Rockwell</vt:lpstr>
      <vt:lpstr>Rockwell Condensed</vt:lpstr>
      <vt:lpstr>Wingdings</vt:lpstr>
      <vt:lpstr>Wood Type</vt:lpstr>
      <vt:lpstr>Milestone 2 – Use Cases</vt:lpstr>
      <vt:lpstr>Introduction</vt:lpstr>
      <vt:lpstr>2.1 Functional Use Cases</vt:lpstr>
      <vt:lpstr>UC1 — Start System Services</vt:lpstr>
      <vt:lpstr>UC2 — Authenticated Address Search</vt:lpstr>
      <vt:lpstr>UC3 — Visualize Data in Kibana</vt:lpstr>
      <vt:lpstr>UC4 — Integrate External Systems via REST API</vt:lpstr>
      <vt:lpstr>UC5 — Manage Addresses (Admin CRUD)</vt:lpstr>
      <vt:lpstr>2.2 Non-Functional Use Cases</vt:lpstr>
      <vt:lpstr>UC6 — Performance &amp; Scalability</vt:lpstr>
      <vt:lpstr>UC7 — Reliability &amp; Availability</vt:lpstr>
      <vt:lpstr>UC8 — Security &amp; Access Control</vt:lpstr>
      <vt:lpstr>UC9 — Maintainability &amp; Extensibility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Cristian STEFAN (153719)</dc:creator>
  <cp:lastModifiedBy>Cristian STEFAN (153719)</cp:lastModifiedBy>
  <cp:revision>2</cp:revision>
  <dcterms:created xsi:type="dcterms:W3CDTF">2025-12-16T12:12:59Z</dcterms:created>
  <dcterms:modified xsi:type="dcterms:W3CDTF">2025-12-16T14:30:02Z</dcterms:modified>
</cp:coreProperties>
</file>